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0" y="2011680"/>
            <a:ext cx="1371600" cy="508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2860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5400" b="1">
                <a:solidFill>
                  <a:srgbClr val="FFFFFF"/>
                </a:solidFill>
                <a:latin typeface="Inter"/>
              </a:defRPr>
            </a:pPr>
            <a:r>
              <a:t>CHARTERWELL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3832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800" b="0">
                <a:solidFill>
                  <a:srgbClr val="0D9488"/>
                </a:solidFill>
                <a:latin typeface="Inter"/>
              </a:defRPr>
            </a:pPr>
            <a:r>
              <a:t>The AI-Native Claims Intelligence Workspace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3891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800" b="0">
                <a:solidFill>
                  <a:srgbClr val="FAFAF8"/>
                </a:solidFill>
                <a:latin typeface="Inter"/>
              </a:defRPr>
            </a:pPr>
            <a:r>
              <a:t>Every document understood. Every decision informed.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64465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1B2A4A"/>
                </a:solidFill>
                <a:latin typeface="Inter"/>
              </a:defRPr>
            </a:pPr>
            <a:r>
              <a:t>Confidential  |  March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0D9488"/>
                </a:solidFill>
                <a:latin typeface="Inter"/>
              </a:defRPr>
            </a:pPr>
            <a:r>
              <a:t>THE PROBLEM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914400"/>
            <a:ext cx="1828800" cy="381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600" b="1">
                <a:solidFill>
                  <a:srgbClr val="1B2A4A"/>
                </a:solidFill>
                <a:latin typeface="Inter"/>
              </a:defRPr>
            </a:pPr>
            <a:r>
              <a:t>Claims professionals are drowning in documents.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560320"/>
            <a:ext cx="3017520" cy="2011680"/>
          </a:xfrm>
          <a:prstGeom prst="rect">
            <a:avLst/>
          </a:prstGeom>
          <a:solidFill>
            <a:srgbClr val="FFFFFF"/>
          </a:solidFill>
          <a:ln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274320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4200" b="1">
                <a:solidFill>
                  <a:srgbClr val="0D9488"/>
                </a:solidFill>
                <a:latin typeface="Inter"/>
              </a:defRPr>
            </a:pPr>
            <a:r>
              <a:t>10–15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356616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1F2937"/>
                </a:solidFill>
                <a:latin typeface="Inter"/>
              </a:defRPr>
            </a:pPr>
            <a:r>
              <a:t>documents per claim,</a:t>
            </a:r>
            <a:br/>
            <a:r>
              <a:t>processed manually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0" y="2560320"/>
            <a:ext cx="3017520" cy="2011680"/>
          </a:xfrm>
          <a:prstGeom prst="rect">
            <a:avLst/>
          </a:prstGeom>
          <a:solidFill>
            <a:srgbClr val="FFFFFF"/>
          </a:solidFill>
          <a:ln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274320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4200" b="1">
                <a:solidFill>
                  <a:srgbClr val="0D9488"/>
                </a:solidFill>
                <a:latin typeface="Inter"/>
              </a:defRPr>
            </a:pPr>
            <a:r>
              <a:t>17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356616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1F2937"/>
                </a:solidFill>
                <a:latin typeface="Inter"/>
              </a:defRPr>
            </a:pPr>
            <a:r>
              <a:t>disconnected data sources</a:t>
            </a:r>
            <a:br/>
            <a:r>
              <a:t>per carrier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63840" y="2560320"/>
            <a:ext cx="3017520" cy="2011680"/>
          </a:xfrm>
          <a:prstGeom prst="rect">
            <a:avLst/>
          </a:prstGeom>
          <a:solidFill>
            <a:srgbClr val="FFFFFF"/>
          </a:solidFill>
          <a:ln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60" y="274320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4200" b="1">
                <a:solidFill>
                  <a:srgbClr val="0D9488"/>
                </a:solidFill>
                <a:latin typeface="Inter"/>
              </a:defRPr>
            </a:pPr>
            <a:r>
              <a:t>15–20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356616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1F2937"/>
                </a:solidFill>
                <a:latin typeface="Inter"/>
              </a:defRPr>
            </a:pPr>
            <a:r>
              <a:t>per FNOL just to validate</a:t>
            </a:r>
            <a:br/>
            <a:r>
              <a:t>what should be obvious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0292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800" b="0">
                <a:solidFill>
                  <a:srgbClr val="1F2937"/>
                </a:solidFill>
                <a:latin typeface="Inter"/>
              </a:defRPr>
            </a:pPr>
            <a:r>
              <a:t>Point solutions for each step create a fragmented stack.</a:t>
            </a:r>
            <a:br/>
            <a:r>
              <a:t>Legacy platforms bolt AI onto decades-old architecture.</a:t>
            </a:r>
            <a:br/>
            <a:r>
              <a:t>The result: 80% of carriers deploy AI. Only 7% scale 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0D9488"/>
                </a:solidFill>
                <a:latin typeface="Inter"/>
              </a:defRPr>
            </a:pPr>
            <a:r>
              <a:t>THE SHIFT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914400"/>
            <a:ext cx="1828800" cy="381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600" b="1">
                <a:solidFill>
                  <a:srgbClr val="1B2A4A"/>
                </a:solidFill>
                <a:latin typeface="Inter"/>
              </a:defRPr>
            </a:pPr>
            <a:r>
              <a:t>From point solutions to unified workspaces.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400"/>
              </a:spcAft>
              <a:defRPr sz="1600" b="0">
                <a:solidFill>
                  <a:srgbClr val="1F2937"/>
                </a:solidFill>
                <a:latin typeface="Inter"/>
              </a:defRPr>
            </a:pPr>
            <a:r>
              <a:t>"Claims Intelligence" is the emerging category.</a:t>
            </a:r>
          </a:p>
          <a:p>
            <a:pPr algn="l">
              <a:spcAft>
                <a:spcPts val="2400"/>
              </a:spcAft>
              <a:defRPr sz="1600" b="0">
                <a:solidFill>
                  <a:srgbClr val="1F2937"/>
                </a:solidFill>
                <a:latin typeface="Inter"/>
              </a:defRPr>
            </a:pPr>
          </a:p>
          <a:p>
            <a:pPr algn="l">
              <a:spcAft>
                <a:spcPts val="2400"/>
              </a:spcAft>
              <a:defRPr sz="1600" b="0">
                <a:solidFill>
                  <a:srgbClr val="1F2937"/>
                </a:solidFill>
                <a:latin typeface="Inter"/>
              </a:defRPr>
            </a:pPr>
            <a:r>
              <a:t>Parallel precedents:</a:t>
            </a:r>
          </a:p>
          <a:p>
            <a:pPr algn="l">
              <a:spcAft>
                <a:spcPts val="2400"/>
              </a:spcAft>
              <a:defRPr sz="1600" b="0">
                <a:solidFill>
                  <a:srgbClr val="1F2937"/>
                </a:solidFill>
                <a:latin typeface="Inter"/>
              </a:defRPr>
            </a:pPr>
            <a:r>
              <a:t>•  Legora created “The AI Workspace for Lawyers” → $5.55B valuation</a:t>
            </a:r>
          </a:p>
          <a:p>
            <a:pPr algn="l">
              <a:spcAft>
                <a:spcPts val="2400"/>
              </a:spcAft>
              <a:defRPr sz="1600" b="0">
                <a:solidFill>
                  <a:srgbClr val="1F2937"/>
                </a:solidFill>
                <a:latin typeface="Inter"/>
              </a:defRPr>
            </a:pPr>
            <a:r>
              <a:t>•  Veeva created “Life Sciences Cloud” → $50B+ market cap</a:t>
            </a:r>
          </a:p>
          <a:p>
            <a:pPr algn="l">
              <a:spcAft>
                <a:spcPts val="2400"/>
              </a:spcAft>
              <a:defRPr sz="1600" b="0">
                <a:solidFill>
                  <a:srgbClr val="1F2937"/>
                </a:solidFill>
                <a:latin typeface="Inter"/>
              </a:defRPr>
            </a:pPr>
            <a:r>
              <a:t>•  Figma created “Design Workspace” → $20B (Adobe acquisition)</a:t>
            </a:r>
          </a:p>
          <a:p>
            <a:pPr algn="l">
              <a:spcAft>
                <a:spcPts val="2400"/>
              </a:spcAft>
              <a:defRPr sz="1600" b="0">
                <a:solidFill>
                  <a:srgbClr val="1F2937"/>
                </a:solidFill>
                <a:latin typeface="Inter"/>
              </a:defRPr>
            </a:pPr>
            <a:r>
              <a:t>•  Bloomberg defined the “Terminal” for traders → category dominance</a:t>
            </a:r>
          </a:p>
          <a:p>
            <a:pPr algn="l">
              <a:spcAft>
                <a:spcPts val="2400"/>
              </a:spcAft>
              <a:defRPr sz="1600" b="0">
                <a:solidFill>
                  <a:srgbClr val="1F2937"/>
                </a:solidFill>
                <a:latin typeface="Inter"/>
              </a:defRPr>
            </a:pPr>
          </a:p>
          <a:p>
            <a:pPr algn="l">
              <a:spcAft>
                <a:spcPts val="2400"/>
              </a:spcAft>
              <a:defRPr sz="1600" b="0">
                <a:solidFill>
                  <a:srgbClr val="1F2937"/>
                </a:solidFill>
                <a:latin typeface="Inter"/>
              </a:defRPr>
            </a:pPr>
            <a:r>
              <a:t>The pattern: professionals who live in documents</a:t>
            </a:r>
          </a:p>
          <a:p>
            <a:pPr algn="l">
              <a:spcAft>
                <a:spcPts val="2400"/>
              </a:spcAft>
              <a:defRPr sz="1600" b="0">
                <a:solidFill>
                  <a:srgbClr val="1F2937"/>
                </a:solidFill>
                <a:latin typeface="Inter"/>
              </a:defRPr>
            </a:pPr>
            <a:r>
              <a:t>and data get a purpose-built workspace.</a:t>
            </a:r>
          </a:p>
          <a:p>
            <a:pPr algn="l">
              <a:spcAft>
                <a:spcPts val="2400"/>
              </a:spcAft>
              <a:defRPr sz="1600" b="0">
                <a:solidFill>
                  <a:srgbClr val="1F2937"/>
                </a:solidFill>
                <a:latin typeface="Inter"/>
              </a:defRPr>
            </a:pPr>
          </a:p>
          <a:p>
            <a:pPr algn="l">
              <a:spcAft>
                <a:spcPts val="2400"/>
              </a:spcAft>
              <a:defRPr sz="1600" b="0">
                <a:solidFill>
                  <a:srgbClr val="1F2937"/>
                </a:solidFill>
                <a:latin typeface="Inter"/>
              </a:defRPr>
            </a:pPr>
            <a:r>
              <a:t>Insurance claims is next.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0" y="2286000"/>
            <a:ext cx="4572000" cy="3200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0" y="2560320"/>
            <a:ext cx="4114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400"/>
              </a:spcAft>
              <a:defRPr sz="1500" b="0">
                <a:solidFill>
                  <a:srgbClr val="FFFFFF"/>
                </a:solidFill>
                <a:latin typeface="Inter"/>
              </a:defRPr>
            </a:pPr>
            <a:r>
              <a:t>Industry signals:</a:t>
            </a:r>
          </a:p>
          <a:p>
            <a:pPr algn="l">
              <a:spcAft>
                <a:spcPts val="2400"/>
              </a:spcAft>
              <a:defRPr sz="1500" b="0">
                <a:solidFill>
                  <a:srgbClr val="FFFFFF"/>
                </a:solidFill>
                <a:latin typeface="Inter"/>
              </a:defRPr>
            </a:pPr>
          </a:p>
          <a:p>
            <a:pPr algn="l">
              <a:spcAft>
                <a:spcPts val="2400"/>
              </a:spcAft>
              <a:defRPr sz="1500" b="0">
                <a:solidFill>
                  <a:srgbClr val="FFFFFF"/>
                </a:solidFill>
                <a:latin typeface="Inter"/>
              </a:defRPr>
            </a:pPr>
            <a:r>
              <a:t>•  88% of carriers want AI</a:t>
            </a:r>
          </a:p>
          <a:p>
            <a:pPr algn="l">
              <a:spcAft>
                <a:spcPts val="2400"/>
              </a:spcAft>
              <a:defRPr sz="1500" b="0">
                <a:solidFill>
                  <a:srgbClr val="FFFFFF"/>
                </a:solidFill>
                <a:latin typeface="Inter"/>
              </a:defRPr>
            </a:pPr>
            <a:r>
              <a:t>•  Only 7% have scaled it</a:t>
            </a:r>
          </a:p>
          <a:p>
            <a:pPr algn="l">
              <a:spcAft>
                <a:spcPts val="2400"/>
              </a:spcAft>
              <a:defRPr sz="1500" b="0">
                <a:solidFill>
                  <a:srgbClr val="FFFFFF"/>
                </a:solidFill>
                <a:latin typeface="Inter"/>
              </a:defRPr>
            </a:pPr>
            <a:r>
              <a:t>•  SAS: “2026 is the year AI becomes</a:t>
            </a:r>
          </a:p>
          <a:p>
            <a:pPr algn="l">
              <a:spcAft>
                <a:spcPts val="2400"/>
              </a:spcAft>
              <a:defRPr sz="1500" b="0">
                <a:solidFill>
                  <a:srgbClr val="FFFFFF"/>
                </a:solidFill>
                <a:latin typeface="Inter"/>
              </a:defRPr>
            </a:pPr>
            <a:r>
              <a:t>    the operating system for insurance”</a:t>
            </a:r>
          </a:p>
          <a:p>
            <a:pPr algn="l">
              <a:spcAft>
                <a:spcPts val="2400"/>
              </a:spcAft>
              <a:defRPr sz="1500" b="0">
                <a:solidFill>
                  <a:srgbClr val="FFFFFF"/>
                </a:solidFill>
                <a:latin typeface="Inter"/>
              </a:defRPr>
            </a:pPr>
            <a:r>
              <a:t>•  A Fortune 500 insurer is phasing</a:t>
            </a:r>
          </a:p>
          <a:p>
            <a:pPr algn="l">
              <a:spcAft>
                <a:spcPts val="2400"/>
              </a:spcAft>
              <a:defRPr sz="1500" b="0">
                <a:solidFill>
                  <a:srgbClr val="FFFFFF"/>
                </a:solidFill>
                <a:latin typeface="Inter"/>
              </a:defRPr>
            </a:pPr>
            <a:r>
              <a:t>    out policy admin for AI copilots</a:t>
            </a:r>
          </a:p>
          <a:p>
            <a:pPr algn="l">
              <a:spcAft>
                <a:spcPts val="2400"/>
              </a:spcAft>
              <a:defRPr sz="1500" b="0">
                <a:solidFill>
                  <a:srgbClr val="FFFFFF"/>
                </a:solidFill>
                <a:latin typeface="Inter"/>
              </a:defRPr>
            </a:pPr>
          </a:p>
          <a:p>
            <a:pPr algn="l">
              <a:spcAft>
                <a:spcPts val="2400"/>
              </a:spcAft>
              <a:defRPr sz="1500" b="0">
                <a:solidFill>
                  <a:srgbClr val="FFFFFF"/>
                </a:solidFill>
                <a:latin typeface="Inter"/>
              </a:defRPr>
            </a:pPr>
            <a:r>
              <a:t>The category window is open now.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0D9488"/>
                </a:solidFill>
                <a:latin typeface="Inter"/>
              </a:defRPr>
            </a:pPr>
            <a:r>
              <a:t>THE INSIGHT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914400"/>
            <a:ext cx="1828800" cy="381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4400" b="1">
                <a:solidFill>
                  <a:srgbClr val="FFFFFF"/>
                </a:solidFill>
                <a:latin typeface="Inter"/>
              </a:defRPr>
            </a:pPr>
            <a:r>
              <a:t>The document layer is</a:t>
            </a:r>
            <a:br/>
            <a:r>
              <a:t>the foundation.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0040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400"/>
              </a:spcAft>
              <a:defRPr sz="1800" b="0">
                <a:solidFill>
                  <a:srgbClr val="FAFAF8"/>
                </a:solidFill>
                <a:latin typeface="Inter"/>
              </a:defRPr>
            </a:pPr>
            <a:r>
              <a:t>Every claims decision starts with</a:t>
            </a:r>
          </a:p>
          <a:p>
            <a:pPr algn="l">
              <a:spcAft>
                <a:spcPts val="2400"/>
              </a:spcAft>
              <a:defRPr sz="1800" b="0">
                <a:solidFill>
                  <a:srgbClr val="FAFAF8"/>
                </a:solidFill>
                <a:latin typeface="Inter"/>
              </a:defRPr>
            </a:pPr>
            <a:r>
              <a:t>understanding documents.</a:t>
            </a:r>
          </a:p>
          <a:p>
            <a:pPr algn="l">
              <a:spcAft>
                <a:spcPts val="2400"/>
              </a:spcAft>
              <a:defRPr sz="1800" b="0">
                <a:solidFill>
                  <a:srgbClr val="FAFAF8"/>
                </a:solidFill>
                <a:latin typeface="Inter"/>
              </a:defRPr>
            </a:pPr>
          </a:p>
          <a:p>
            <a:pPr algn="l">
              <a:spcAft>
                <a:spcPts val="2400"/>
              </a:spcAft>
              <a:defRPr sz="1800" b="0">
                <a:solidFill>
                  <a:srgbClr val="FAFAF8"/>
                </a:solidFill>
                <a:latin typeface="Inter"/>
              </a:defRPr>
            </a:pPr>
            <a:r>
              <a:t>•  FNOL reports</a:t>
            </a:r>
          </a:p>
          <a:p>
            <a:pPr algn="l">
              <a:spcAft>
                <a:spcPts val="2400"/>
              </a:spcAft>
              <a:defRPr sz="1800" b="0">
                <a:solidFill>
                  <a:srgbClr val="FAFAF8"/>
                </a:solidFill>
                <a:latin typeface="Inter"/>
              </a:defRPr>
            </a:pPr>
            <a:r>
              <a:t>•  Police reports</a:t>
            </a:r>
          </a:p>
          <a:p>
            <a:pPr algn="l">
              <a:spcAft>
                <a:spcPts val="2400"/>
              </a:spcAft>
              <a:defRPr sz="1800" b="0">
                <a:solidFill>
                  <a:srgbClr val="FAFAF8"/>
                </a:solidFill>
                <a:latin typeface="Inter"/>
              </a:defRPr>
            </a:pPr>
            <a:r>
              <a:t>•  Medical records</a:t>
            </a:r>
          </a:p>
          <a:p>
            <a:pPr algn="l">
              <a:spcAft>
                <a:spcPts val="2400"/>
              </a:spcAft>
              <a:defRPr sz="1800" b="0">
                <a:solidFill>
                  <a:srgbClr val="FAFAF8"/>
                </a:solidFill>
                <a:latin typeface="Inter"/>
              </a:defRPr>
            </a:pPr>
            <a:r>
              <a:t>•  Repair estimates</a:t>
            </a:r>
          </a:p>
          <a:p>
            <a:pPr algn="l">
              <a:spcAft>
                <a:spcPts val="2400"/>
              </a:spcAft>
              <a:defRPr sz="1800" b="0">
                <a:solidFill>
                  <a:srgbClr val="FAFAF8"/>
                </a:solidFill>
                <a:latin typeface="Inter"/>
              </a:defRPr>
            </a:pPr>
            <a:r>
              <a:t>•  Policy declarations</a:t>
            </a:r>
          </a:p>
          <a:p>
            <a:pPr algn="l">
              <a:spcAft>
                <a:spcPts val="2400"/>
              </a:spcAft>
              <a:defRPr sz="1800" b="0">
                <a:solidFill>
                  <a:srgbClr val="FAFAF8"/>
                </a:solidFill>
                <a:latin typeface="Inter"/>
              </a:defRPr>
            </a:pPr>
            <a:r>
              <a:t>•  Correspondence</a:t>
            </a:r>
          </a:p>
          <a:p>
            <a:pPr algn="l">
              <a:spcAft>
                <a:spcPts val="2400"/>
              </a:spcAft>
              <a:defRPr sz="1800" b="0">
                <a:solidFill>
                  <a:srgbClr val="FAFAF8"/>
                </a:solidFill>
                <a:latin typeface="Inter"/>
              </a:defRPr>
            </a:pPr>
          </a:p>
          <a:p>
            <a:pPr algn="l">
              <a:spcAft>
                <a:spcPts val="2400"/>
              </a:spcAft>
              <a:defRPr sz="1800" b="0">
                <a:solidFill>
                  <a:srgbClr val="FAFAF8"/>
                </a:solidFill>
                <a:latin typeface="Inter"/>
              </a:defRPr>
            </a:pPr>
            <a:r>
              <a:t>No one owns this layer today.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0" y="3200400"/>
            <a:ext cx="4572000" cy="2286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0" y="3383280"/>
            <a:ext cx="4114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400"/>
              </a:spcAft>
              <a:defRPr sz="1500" b="0">
                <a:solidFill>
                  <a:srgbClr val="FFFFFF"/>
                </a:solidFill>
                <a:latin typeface="Inter"/>
              </a:defRPr>
            </a:pPr>
            <a:r>
              <a:t>The document layer connects to</a:t>
            </a:r>
          </a:p>
          <a:p>
            <a:pPr algn="l">
              <a:spcAft>
                <a:spcPts val="2400"/>
              </a:spcAft>
              <a:defRPr sz="1500" b="0">
                <a:solidFill>
                  <a:srgbClr val="FFFFFF"/>
                </a:solidFill>
                <a:latin typeface="Inter"/>
              </a:defRPr>
            </a:pPr>
            <a:r>
              <a:t>every downstream decision:</a:t>
            </a:r>
          </a:p>
          <a:p>
            <a:pPr algn="l">
              <a:spcAft>
                <a:spcPts val="2400"/>
              </a:spcAft>
              <a:defRPr sz="1500" b="0">
                <a:solidFill>
                  <a:srgbClr val="FFFFFF"/>
                </a:solidFill>
                <a:latin typeface="Inter"/>
              </a:defRPr>
            </a:pPr>
          </a:p>
          <a:p>
            <a:pPr algn="l">
              <a:spcAft>
                <a:spcPts val="2400"/>
              </a:spcAft>
              <a:defRPr sz="1500" b="0">
                <a:solidFill>
                  <a:srgbClr val="FFFFFF"/>
                </a:solidFill>
                <a:latin typeface="Inter"/>
              </a:defRPr>
            </a:pPr>
            <a:r>
              <a:t>Coverage determination</a:t>
            </a:r>
          </a:p>
          <a:p>
            <a:pPr algn="l">
              <a:spcAft>
                <a:spcPts val="2400"/>
              </a:spcAft>
              <a:defRPr sz="1500" b="0">
                <a:solidFill>
                  <a:srgbClr val="FFFFFF"/>
                </a:solidFill>
                <a:latin typeface="Inter"/>
              </a:defRPr>
            </a:pPr>
            <a:r>
              <a:t>Adjuster routing</a:t>
            </a:r>
          </a:p>
          <a:p>
            <a:pPr algn="l">
              <a:spcAft>
                <a:spcPts val="2400"/>
              </a:spcAft>
              <a:defRPr sz="1500" b="0">
                <a:solidFill>
                  <a:srgbClr val="FFFFFF"/>
                </a:solidFill>
                <a:latin typeface="Inter"/>
              </a:defRPr>
            </a:pPr>
            <a:r>
              <a:t>Fraud detection</a:t>
            </a:r>
          </a:p>
          <a:p>
            <a:pPr algn="l">
              <a:spcAft>
                <a:spcPts val="2400"/>
              </a:spcAft>
              <a:defRPr sz="1500" b="0">
                <a:solidFill>
                  <a:srgbClr val="FFFFFF"/>
                </a:solidFill>
                <a:latin typeface="Inter"/>
              </a:defRPr>
            </a:pPr>
            <a:r>
              <a:t>Compliance checking</a:t>
            </a:r>
          </a:p>
          <a:p>
            <a:pPr algn="l">
              <a:spcAft>
                <a:spcPts val="2400"/>
              </a:spcAft>
              <a:defRPr sz="1500" b="0">
                <a:solidFill>
                  <a:srgbClr val="FFFFFF"/>
                </a:solidFill>
                <a:latin typeface="Inter"/>
              </a:defRPr>
            </a:pPr>
            <a:r>
              <a:t>Subrogation</a:t>
            </a:r>
          </a:p>
          <a:p>
            <a:pPr algn="l">
              <a:spcAft>
                <a:spcPts val="2400"/>
              </a:spcAft>
              <a:defRPr sz="1500" b="0">
                <a:solidFill>
                  <a:srgbClr val="FFFFFF"/>
                </a:solidFill>
                <a:latin typeface="Inter"/>
              </a:defRPr>
            </a:pPr>
            <a:r>
              <a:t>Settlement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0D9488"/>
                </a:solidFill>
                <a:latin typeface="Inter"/>
              </a:defRPr>
            </a:pPr>
            <a:r>
              <a:t>THE PRODUCT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914400"/>
            <a:ext cx="1828800" cy="381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600" b="1">
                <a:solidFill>
                  <a:srgbClr val="1B2A4A"/>
                </a:solidFill>
                <a:latin typeface="Inter"/>
              </a:defRPr>
            </a:pPr>
            <a:r>
              <a:t>One workspace replaces your claims AI stack.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286000"/>
            <a:ext cx="3108960" cy="3840480"/>
          </a:xfrm>
          <a:prstGeom prst="rect">
            <a:avLst/>
          </a:prstGeom>
          <a:solidFill>
            <a:srgbClr val="FFFFFF"/>
          </a:solidFill>
          <a:ln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2286000"/>
            <a:ext cx="3108960" cy="635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2560320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000" b="1">
                <a:solidFill>
                  <a:srgbClr val="1B2A4A"/>
                </a:solidFill>
                <a:latin typeface="Inter"/>
              </a:defRPr>
            </a:pPr>
            <a:r>
              <a:t>Document Intelligence</a:t>
            </a:r>
            <a:br/>
            <a:r>
              <a:t>Engine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3657600"/>
            <a:ext cx="26517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1F2937"/>
                </a:solidFill>
                <a:latin typeface="Inter"/>
              </a:defRPr>
            </a:pPr>
            <a:r>
              <a:t>AI that doesn’t just extract data —</a:t>
            </a:r>
            <a:br/>
            <a:r>
              <a:t>it understands what documents mean</a:t>
            </a:r>
            <a:br/>
            <a:r>
              <a:t>for your claim. 50+ P&amp;C document</a:t>
            </a:r>
            <a:br/>
            <a:r>
              <a:t>types. Context-aware extraction.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2286000"/>
            <a:ext cx="3108960" cy="3840480"/>
          </a:xfrm>
          <a:prstGeom prst="rect">
            <a:avLst/>
          </a:prstGeom>
          <a:solidFill>
            <a:srgbClr val="FFFFFF"/>
          </a:solidFill>
          <a:ln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2286000"/>
            <a:ext cx="3108960" cy="635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2560320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000" b="1">
                <a:solidFill>
                  <a:srgbClr val="1B2A4A"/>
                </a:solidFill>
                <a:latin typeface="Inter"/>
              </a:defRPr>
            </a:pPr>
            <a:r>
              <a:t>Playbook System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3657600"/>
            <a:ext cx="26517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1F2937"/>
                </a:solidFill>
                <a:latin typeface="Inter"/>
              </a:defRPr>
            </a:pPr>
            <a:r>
              <a:t>Carrier-specific rules encoded as</a:t>
            </a:r>
            <a:br/>
            <a:r>
              <a:t>living playbooks. Adjudication logic,</a:t>
            </a:r>
            <a:br/>
            <a:r>
              <a:t>compliance requirements, escalation</a:t>
            </a:r>
            <a:br/>
            <a:r>
              <a:t>triggers. Your institutional knowledge,</a:t>
            </a:r>
            <a:br/>
            <a:r>
              <a:t>systemized.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63840" y="2286000"/>
            <a:ext cx="3108960" cy="3840480"/>
          </a:xfrm>
          <a:prstGeom prst="rect">
            <a:avLst/>
          </a:prstGeom>
          <a:solidFill>
            <a:srgbClr val="FFFFFF"/>
          </a:solidFill>
          <a:ln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863840" y="2286000"/>
            <a:ext cx="3108960" cy="635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38160" y="2560320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000" b="1">
                <a:solidFill>
                  <a:srgbClr val="1B2A4A"/>
                </a:solidFill>
                <a:latin typeface="Inter"/>
              </a:defRPr>
            </a:pPr>
            <a:r>
              <a:t>Unified Workspace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0" y="3657600"/>
            <a:ext cx="26517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1F2937"/>
                </a:solidFill>
                <a:latin typeface="Inter"/>
              </a:defRPr>
            </a:pPr>
            <a:r>
              <a:t>One environment where claims</a:t>
            </a:r>
            <a:br/>
            <a:r>
              <a:t>professionals think, decide, and act.</a:t>
            </a:r>
            <a:br/>
            <a:r>
              <a:t>No more alt-tabbing between 12</a:t>
            </a:r>
            <a:br/>
            <a:r>
              <a:t>tools. Every document, decision, and</a:t>
            </a:r>
            <a:br/>
            <a:r>
              <a:t>workflow — connected.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0D9488"/>
                </a:solidFill>
                <a:latin typeface="Inter"/>
              </a:defRPr>
            </a:pPr>
            <a:r>
              <a:t>HOW IT WORKS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914400"/>
            <a:ext cx="1828800" cy="381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B2A4A"/>
                </a:solidFill>
                <a:latin typeface="Inter"/>
              </a:defRPr>
            </a:pPr>
            <a:r>
              <a:t>From document to decision in minutes, not hours.</a:t>
            </a:r>
          </a:p>
        </p:txBody>
      </p:sp>
      <p:sp>
        <p:nvSpPr>
          <p:cNvPr id="5" name="Oval 4"/>
          <p:cNvSpPr/>
          <p:nvPr/>
        </p:nvSpPr>
        <p:spPr>
          <a:xfrm>
            <a:off x="1097280" y="2377440"/>
            <a:ext cx="640080" cy="64008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2004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1B2A4A"/>
                </a:solidFill>
                <a:latin typeface="Inter"/>
              </a:defRPr>
            </a:pPr>
            <a:r>
              <a:t>INGEST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749039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300" b="0">
                <a:solidFill>
                  <a:srgbClr val="1F2937"/>
                </a:solidFill>
                <a:latin typeface="Inter"/>
              </a:defRPr>
            </a:pPr>
            <a:r>
              <a:t>Documents flow in from</a:t>
            </a:r>
            <a:br/>
            <a:r>
              <a:t>email, uploads, or</a:t>
            </a:r>
            <a:br/>
            <a:r>
              <a:t>core system APIs.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468880" y="2560320"/>
            <a:ext cx="365760" cy="274320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383280" y="2377440"/>
            <a:ext cx="640080" cy="64008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32004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1B2A4A"/>
                </a:solidFill>
                <a:latin typeface="Inter"/>
              </a:defRPr>
            </a:pPr>
            <a:r>
              <a:t>UNDERSTAND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3749039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300" b="0">
                <a:solidFill>
                  <a:srgbClr val="1F2937"/>
                </a:solidFill>
                <a:latin typeface="Inter"/>
              </a:defRPr>
            </a:pPr>
            <a:r>
              <a:t>AI reads, classifies, and</a:t>
            </a:r>
            <a:br/>
            <a:r>
              <a:t>extracts — understanding</a:t>
            </a:r>
            <a:br/>
            <a:r>
              <a:t>context, not just text.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754880" y="2560320"/>
            <a:ext cx="365760" cy="274320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669280" y="2377440"/>
            <a:ext cx="640080" cy="64008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12080" y="32004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1B2A4A"/>
                </a:solidFill>
                <a:latin typeface="Inter"/>
              </a:defRPr>
            </a:pPr>
            <a:r>
              <a:t>ROUTE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0" y="3749039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300" b="0">
                <a:solidFill>
                  <a:srgbClr val="1F2937"/>
                </a:solidFill>
                <a:latin typeface="Inter"/>
              </a:defRPr>
            </a:pPr>
            <a:r>
              <a:t>Claims triaged and</a:t>
            </a:r>
            <a:br/>
            <a:r>
              <a:t>assigned to the right</a:t>
            </a:r>
            <a:br/>
            <a:r>
              <a:t>adjuster automatically.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7040880" y="2560320"/>
            <a:ext cx="365760" cy="274320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955280" y="2377440"/>
            <a:ext cx="640080" cy="64008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0" y="32004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1B2A4A"/>
                </a:solidFill>
                <a:latin typeface="Inter"/>
              </a:defRPr>
            </a:pPr>
            <a:r>
              <a:t>CHECK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06640" y="3749039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300" b="0">
                <a:solidFill>
                  <a:srgbClr val="1F2937"/>
                </a:solidFill>
                <a:latin typeface="Inter"/>
              </a:defRPr>
            </a:pPr>
            <a:r>
              <a:t>Compliance verified</a:t>
            </a:r>
            <a:br/>
            <a:r>
              <a:t>against 50-state rules</a:t>
            </a:r>
            <a:br/>
            <a:r>
              <a:t>and carrier playbooks.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9326880" y="2560320"/>
            <a:ext cx="365760" cy="274320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241280" y="2377440"/>
            <a:ext cx="640080" cy="64008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84080" y="32004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1B2A4A"/>
                </a:solidFill>
                <a:latin typeface="Inter"/>
              </a:defRPr>
            </a:pPr>
            <a:r>
              <a:t>ACT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92640" y="3749039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300" b="0">
                <a:solidFill>
                  <a:srgbClr val="1F2937"/>
                </a:solidFill>
                <a:latin typeface="Inter"/>
              </a:defRPr>
            </a:pPr>
            <a:r>
              <a:t>Adjusters work in a</a:t>
            </a:r>
            <a:br/>
            <a:r>
              <a:t>unified workspace with</a:t>
            </a:r>
            <a:br/>
            <a:r>
              <a:t>full claim context.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4400" y="5303520"/>
            <a:ext cx="10332720" cy="10972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71600" y="544068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500" b="0">
                <a:solidFill>
                  <a:srgbClr val="FFFFFF"/>
                </a:solidFill>
                <a:latin typeface="Inter"/>
              </a:defRPr>
            </a:pPr>
            <a:r>
              <a:t>The entire pipeline is AI-native — not AI bolted on. Every step learns from the last.</a:t>
            </a:r>
            <a:br/>
            <a:r>
              <a:t>Playbooks encode your carrier-specific rules so the workspace gets smarter with every claim.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0D9488"/>
                </a:solidFill>
                <a:latin typeface="Inter"/>
              </a:defRPr>
            </a:pPr>
            <a:r>
              <a:t>KEY METRICS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914400"/>
            <a:ext cx="1828800" cy="381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600" b="1">
                <a:solidFill>
                  <a:srgbClr val="1B2A4A"/>
                </a:solidFill>
                <a:latin typeface="Inter"/>
              </a:defRPr>
            </a:pPr>
            <a:r>
              <a:t>Measurable impact from day one.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286000"/>
            <a:ext cx="2560320" cy="3200400"/>
          </a:xfrm>
          <a:prstGeom prst="rect">
            <a:avLst/>
          </a:prstGeom>
          <a:solidFill>
            <a:srgbClr val="FFFFFF"/>
          </a:solidFill>
          <a:ln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46888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4800" b="1">
                <a:solidFill>
                  <a:srgbClr val="0D9488"/>
                </a:solidFill>
                <a:latin typeface="Inter"/>
              </a:defRPr>
            </a:pPr>
            <a:r>
              <a:t>85%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47472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800" b="1">
                <a:solidFill>
                  <a:srgbClr val="1B2A4A"/>
                </a:solidFill>
                <a:latin typeface="Inter"/>
              </a:defRPr>
            </a:pPr>
            <a:r>
              <a:t>Processing time</a:t>
            </a:r>
            <a:br/>
            <a:r>
              <a:t>reduction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38912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300" b="0">
                <a:solidFill>
                  <a:srgbClr val="64748B"/>
                </a:solidFill>
                <a:latin typeface="Inter"/>
              </a:defRPr>
            </a:pPr>
            <a:r>
              <a:t>Beating the Hyperscience</a:t>
            </a:r>
            <a:br/>
            <a:r>
              <a:t>benchmark for top-10 insurers</a:t>
            </a:r>
          </a:p>
        </p:txBody>
      </p:sp>
      <p:sp>
        <p:nvSpPr>
          <p:cNvPr id="9" name="Rectangle 8"/>
          <p:cNvSpPr/>
          <p:nvPr/>
        </p:nvSpPr>
        <p:spPr>
          <a:xfrm>
            <a:off x="3566160" y="2286000"/>
            <a:ext cx="2560320" cy="3200400"/>
          </a:xfrm>
          <a:prstGeom prst="rect">
            <a:avLst/>
          </a:prstGeom>
          <a:solidFill>
            <a:srgbClr val="FFFFFF"/>
          </a:solidFill>
          <a:ln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49040" y="246888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4800" b="1">
                <a:solidFill>
                  <a:srgbClr val="0D9488"/>
                </a:solidFill>
                <a:latin typeface="Inter"/>
              </a:defRPr>
            </a:pPr>
            <a:r>
              <a:t>&lt; 3 min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40" y="347472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800" b="1">
                <a:solidFill>
                  <a:srgbClr val="1B2A4A"/>
                </a:solidFill>
                <a:latin typeface="Inter"/>
              </a:defRPr>
            </a:pPr>
            <a:r>
              <a:t>FNOL triage time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40" y="438912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300" b="0">
                <a:solidFill>
                  <a:srgbClr val="64748B"/>
                </a:solidFill>
                <a:latin typeface="Inter"/>
              </a:defRPr>
            </a:pPr>
            <a:r>
              <a:t>Down from 15–20 minutes</a:t>
            </a:r>
            <a:br/>
            <a:r>
              <a:t>per first notice of loss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2286000"/>
            <a:ext cx="2560320" cy="3200400"/>
          </a:xfrm>
          <a:prstGeom prst="rect">
            <a:avLst/>
          </a:prstGeom>
          <a:solidFill>
            <a:srgbClr val="FFFFFF"/>
          </a:solidFill>
          <a:ln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246888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4800" b="1">
                <a:solidFill>
                  <a:srgbClr val="0D9488"/>
                </a:solidFill>
                <a:latin typeface="Inter"/>
              </a:defRPr>
            </a:pPr>
            <a:r>
              <a:t>40%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347472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800" b="1">
                <a:solidFill>
                  <a:srgbClr val="1B2A4A"/>
                </a:solidFill>
                <a:latin typeface="Inter"/>
              </a:defRPr>
            </a:pPr>
            <a:r>
              <a:t>Claims cycle time</a:t>
            </a:r>
            <a:br/>
            <a:r>
              <a:t>reduction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438912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300" b="0">
                <a:solidFill>
                  <a:srgbClr val="64748B"/>
                </a:solidFill>
                <a:latin typeface="Inter"/>
              </a:defRPr>
            </a:pPr>
            <a:r>
              <a:t>End-to-end from FNOL</a:t>
            </a:r>
            <a:br/>
            <a:r>
              <a:t>to resolution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235440" y="2286000"/>
            <a:ext cx="2560320" cy="3200400"/>
          </a:xfrm>
          <a:prstGeom prst="rect">
            <a:avLst/>
          </a:prstGeom>
          <a:solidFill>
            <a:srgbClr val="FFFFFF"/>
          </a:solidFill>
          <a:ln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18320" y="246888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4800" b="1">
                <a:solidFill>
                  <a:srgbClr val="0D9488"/>
                </a:solidFill>
                <a:latin typeface="Inter"/>
              </a:defRPr>
            </a:pPr>
            <a:r>
              <a:t>95%+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18320" y="347472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800" b="1">
                <a:solidFill>
                  <a:srgbClr val="1B2A4A"/>
                </a:solidFill>
                <a:latin typeface="Inter"/>
              </a:defRPr>
            </a:pPr>
            <a:r>
              <a:t>Extraction accuracy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18320" y="438912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300" b="0">
                <a:solidFill>
                  <a:srgbClr val="64748B"/>
                </a:solidFill>
                <a:latin typeface="Inter"/>
              </a:defRPr>
            </a:pPr>
            <a:r>
              <a:t>Across 50+ P&amp;C</a:t>
            </a:r>
            <a:br/>
            <a:r>
              <a:t>document types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760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600" b="0">
                <a:solidFill>
                  <a:srgbClr val="1F2937"/>
                </a:solidFill>
                <a:latin typeface="Inter"/>
              </a:defRPr>
            </a:pPr>
            <a:r>
              <a:t>Pilot framework: 60–90 days, one claim type, one geography. Measurable ROI before enterprise commitment.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0D9488"/>
                </a:solidFill>
                <a:latin typeface="Inter"/>
              </a:defRPr>
            </a:pPr>
            <a:r>
              <a:t>COMPETITIVE LANDSCAPE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914400"/>
            <a:ext cx="1828800" cy="381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B2A4A"/>
                </a:solidFill>
                <a:latin typeface="Inter"/>
              </a:defRPr>
            </a:pPr>
            <a:r>
              <a:t>Deep intelligence meets unified workspace.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2286000"/>
            <a:ext cx="3200400" cy="2057400"/>
          </a:xfrm>
          <a:prstGeom prst="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0" y="2286000"/>
            <a:ext cx="3200400" cy="2057400"/>
          </a:xfrm>
          <a:prstGeom prst="rect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371600" y="4343400"/>
            <a:ext cx="3200400" cy="20574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0" y="4343400"/>
            <a:ext cx="3200400" cy="2057400"/>
          </a:xfrm>
          <a:prstGeom prst="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114800"/>
            <a:ext cx="457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64748B"/>
                </a:solidFill>
                <a:latin typeface="Inter"/>
              </a:defRPr>
            </a:pPr>
            <a:r>
              <a:t>POINT</a:t>
            </a:r>
            <a:br/>
            <a:r>
              <a:t>SOLUTION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79" y="4114800"/>
            <a:ext cx="731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64748B"/>
                </a:solidFill>
                <a:latin typeface="Inter"/>
              </a:defRPr>
            </a:pPr>
            <a:r>
              <a:t>UNIFIED</a:t>
            </a:r>
            <a:br/>
            <a:r>
              <a:t>WORKSPACE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19202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64748B"/>
                </a:solidFill>
                <a:latin typeface="Inter"/>
              </a:defRPr>
            </a:pPr>
            <a:r>
              <a:t>DEEP AI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64748B"/>
                </a:solidFill>
                <a:latin typeface="Inter"/>
              </a:defRPr>
            </a:pPr>
            <a:r>
              <a:t>SHALLOW AI</a:t>
            </a:r>
          </a:p>
        </p:txBody>
      </p:sp>
      <p:sp>
        <p:nvSpPr>
          <p:cNvPr id="13" name="Oval 12"/>
          <p:cNvSpPr/>
          <p:nvPr/>
        </p:nvSpPr>
        <p:spPr>
          <a:xfrm>
            <a:off x="2011680" y="2743200"/>
            <a:ext cx="137160" cy="13716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194560" y="265176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64748B"/>
                </a:solidFill>
                <a:latin typeface="Inter"/>
              </a:defRPr>
            </a:pPr>
            <a:r>
              <a:t>Tractable</a:t>
            </a:r>
          </a:p>
        </p:txBody>
      </p:sp>
      <p:sp>
        <p:nvSpPr>
          <p:cNvPr id="15" name="Oval 14"/>
          <p:cNvSpPr/>
          <p:nvPr/>
        </p:nvSpPr>
        <p:spPr>
          <a:xfrm>
            <a:off x="3200400" y="3200400"/>
            <a:ext cx="137160" cy="13716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83280" y="310896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64748B"/>
                </a:solidFill>
                <a:latin typeface="Inter"/>
              </a:defRPr>
            </a:pPr>
            <a:r>
              <a:t>Shift</a:t>
            </a:r>
          </a:p>
        </p:txBody>
      </p:sp>
      <p:sp>
        <p:nvSpPr>
          <p:cNvPr id="17" name="Oval 16"/>
          <p:cNvSpPr/>
          <p:nvPr/>
        </p:nvSpPr>
        <p:spPr>
          <a:xfrm>
            <a:off x="2560320" y="2560320"/>
            <a:ext cx="137160" cy="13716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200" y="246888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64748B"/>
                </a:solidFill>
                <a:latin typeface="Inter"/>
              </a:defRPr>
            </a:pPr>
            <a:r>
              <a:t>Hyperscience</a:t>
            </a:r>
          </a:p>
        </p:txBody>
      </p:sp>
      <p:sp>
        <p:nvSpPr>
          <p:cNvPr id="19" name="Oval 18"/>
          <p:cNvSpPr/>
          <p:nvPr/>
        </p:nvSpPr>
        <p:spPr>
          <a:xfrm>
            <a:off x="5029200" y="3840480"/>
            <a:ext cx="137160" cy="13716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12080" y="37490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64748B"/>
                </a:solidFill>
                <a:latin typeface="Inter"/>
              </a:defRPr>
            </a:pPr>
            <a:r>
              <a:t>FurtherAI</a:t>
            </a:r>
          </a:p>
        </p:txBody>
      </p:sp>
      <p:sp>
        <p:nvSpPr>
          <p:cNvPr id="21" name="Oval 20"/>
          <p:cNvSpPr/>
          <p:nvPr/>
        </p:nvSpPr>
        <p:spPr>
          <a:xfrm>
            <a:off x="5486400" y="5303520"/>
            <a:ext cx="137160" cy="13716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69280" y="521208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64748B"/>
                </a:solidFill>
                <a:latin typeface="Inter"/>
              </a:defRPr>
            </a:pPr>
            <a:r>
              <a:t>Guidewire/</a:t>
            </a:r>
            <a:br/>
            <a:r>
              <a:t>Duck Creek</a:t>
            </a:r>
          </a:p>
        </p:txBody>
      </p:sp>
      <p:sp>
        <p:nvSpPr>
          <p:cNvPr id="23" name="Oval 22"/>
          <p:cNvSpPr/>
          <p:nvPr/>
        </p:nvSpPr>
        <p:spPr>
          <a:xfrm>
            <a:off x="5943600" y="2560320"/>
            <a:ext cx="228600" cy="22860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26480" y="246888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0D9488"/>
                </a:solidFill>
                <a:latin typeface="Inter"/>
              </a:defRPr>
            </a:pPr>
            <a:r>
              <a:t>CHARTERWELL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686800" y="2286000"/>
            <a:ext cx="3200400" cy="41148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61120" y="2468880"/>
            <a:ext cx="2743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400"/>
              </a:spcAft>
              <a:defRPr sz="1300" b="0">
                <a:solidFill>
                  <a:srgbClr val="FFFFFF"/>
                </a:solidFill>
                <a:latin typeface="Inter"/>
              </a:defRPr>
            </a:pPr>
            <a:r>
              <a:t>Key differentiators:</a:t>
            </a:r>
          </a:p>
          <a:p>
            <a:pPr algn="l">
              <a:spcAft>
                <a:spcPts val="2400"/>
              </a:spcAft>
              <a:defRPr sz="1300" b="0">
                <a:solidFill>
                  <a:srgbClr val="FFFFFF"/>
                </a:solidFill>
                <a:latin typeface="Inter"/>
              </a:defRPr>
            </a:pPr>
          </a:p>
          <a:p>
            <a:pPr algn="l">
              <a:spcAft>
                <a:spcPts val="2400"/>
              </a:spcAft>
              <a:defRPr sz="1300" b="0">
                <a:solidFill>
                  <a:srgbClr val="FFFFFF"/>
                </a:solidFill>
                <a:latin typeface="Inter"/>
              </a:defRPr>
            </a:pPr>
            <a:r>
              <a:t>• Tractable: vision only, no docs</a:t>
            </a:r>
          </a:p>
          <a:p>
            <a:pPr algn="l">
              <a:spcAft>
                <a:spcPts val="2400"/>
              </a:spcAft>
              <a:defRPr sz="1300" b="0">
                <a:solidFill>
                  <a:srgbClr val="FFFFFF"/>
                </a:solidFill>
                <a:latin typeface="Inter"/>
              </a:defRPr>
            </a:pPr>
            <a:r>
              <a:t>• Shift: analytics DNA, no workspace</a:t>
            </a:r>
          </a:p>
          <a:p>
            <a:pPr algn="l">
              <a:spcAft>
                <a:spcPts val="2400"/>
              </a:spcAft>
              <a:defRPr sz="1300" b="0">
                <a:solidFill>
                  <a:srgbClr val="FFFFFF"/>
                </a:solidFill>
                <a:latin typeface="Inter"/>
              </a:defRPr>
            </a:pPr>
            <a:r>
              <a:t>• Hyperscience: horizontal IDP</a:t>
            </a:r>
          </a:p>
          <a:p>
            <a:pPr algn="l">
              <a:spcAft>
                <a:spcPts val="2400"/>
              </a:spcAft>
              <a:defRPr sz="1300" b="0">
                <a:solidFill>
                  <a:srgbClr val="FFFFFF"/>
                </a:solidFill>
                <a:latin typeface="Inter"/>
              </a:defRPr>
            </a:pPr>
            <a:r>
              <a:t>• FurtherAI: broad but shallow</a:t>
            </a:r>
          </a:p>
          <a:p>
            <a:pPr algn="l">
              <a:spcAft>
                <a:spcPts val="2400"/>
              </a:spcAft>
              <a:defRPr sz="1300" b="0">
                <a:solidFill>
                  <a:srgbClr val="FFFFFF"/>
                </a:solidFill>
                <a:latin typeface="Inter"/>
              </a:defRPr>
            </a:pPr>
            <a:r>
              <a:t>• Guidewire: legacy + AI bolt-on</a:t>
            </a:r>
          </a:p>
          <a:p>
            <a:pPr algn="l">
              <a:spcAft>
                <a:spcPts val="2400"/>
              </a:spcAft>
              <a:defRPr sz="1300" b="0">
                <a:solidFill>
                  <a:srgbClr val="FFFFFF"/>
                </a:solidFill>
                <a:latin typeface="Inter"/>
              </a:defRPr>
            </a:pPr>
          </a:p>
          <a:p>
            <a:pPr algn="l">
              <a:spcAft>
                <a:spcPts val="2400"/>
              </a:spcAft>
              <a:defRPr sz="1300" b="0">
                <a:solidFill>
                  <a:srgbClr val="FFFFFF"/>
                </a:solidFill>
                <a:latin typeface="Inter"/>
              </a:defRPr>
            </a:pPr>
            <a:r>
              <a:t>Charterwell = deep document</a:t>
            </a:r>
          </a:p>
          <a:p>
            <a:pPr algn="l">
              <a:spcAft>
                <a:spcPts val="2400"/>
              </a:spcAft>
              <a:defRPr sz="1300" b="0">
                <a:solidFill>
                  <a:srgbClr val="FFFFFF"/>
                </a:solidFill>
                <a:latin typeface="Inter"/>
              </a:defRPr>
            </a:pPr>
            <a:r>
              <a:t>intelligence + unified workspace.</a:t>
            </a:r>
          </a:p>
          <a:p>
            <a:pPr algn="l">
              <a:spcAft>
                <a:spcPts val="2400"/>
              </a:spcAft>
              <a:defRPr sz="1300" b="0">
                <a:solidFill>
                  <a:srgbClr val="FFFFFF"/>
                </a:solidFill>
                <a:latin typeface="Inter"/>
              </a:defRPr>
            </a:pPr>
            <a:r>
              <a:t>No one else occupies this quadrant.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0D9488"/>
                </a:solidFill>
                <a:latin typeface="Inter"/>
              </a:defRPr>
            </a:pPr>
            <a:r>
              <a:t>MARKET OPPORTUNITY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914400"/>
            <a:ext cx="1828800" cy="381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600" b="1">
                <a:solidFill>
                  <a:srgbClr val="FFFFFF"/>
                </a:solidFill>
                <a:latin typeface="Inter"/>
              </a:defRPr>
            </a:pPr>
            <a:r>
              <a:t>Massive market. Massive white space.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56032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5400" b="1">
                <a:solidFill>
                  <a:srgbClr val="0D9488"/>
                </a:solidFill>
                <a:latin typeface="Inter"/>
              </a:defRPr>
            </a:pPr>
            <a:r>
              <a:t>$30B+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6576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600" b="0">
                <a:solidFill>
                  <a:srgbClr val="FFFFFF"/>
                </a:solidFill>
                <a:latin typeface="Inter"/>
              </a:defRPr>
            </a:pPr>
            <a:r>
              <a:t>Claims operations market (TAM)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256032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5400" b="1">
                <a:solidFill>
                  <a:srgbClr val="0D9488"/>
                </a:solidFill>
                <a:latin typeface="Inter"/>
              </a:defRPr>
            </a:pPr>
            <a:r>
              <a:t>$8–12B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36576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600" b="0">
                <a:solidFill>
                  <a:srgbClr val="FFFFFF"/>
                </a:solidFill>
                <a:latin typeface="Inter"/>
              </a:defRPr>
            </a:pPr>
            <a:r>
              <a:t>Claims AI + automation (SAM)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256032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4200" b="1">
                <a:solidFill>
                  <a:srgbClr val="0D9488"/>
                </a:solidFill>
                <a:latin typeface="Inter"/>
              </a:defRPr>
            </a:pPr>
            <a:r>
              <a:t>$500M–$2B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36576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600" b="0">
                <a:solidFill>
                  <a:srgbClr val="FFFFFF"/>
                </a:solidFill>
                <a:latin typeface="Inter"/>
              </a:defRPr>
            </a:pPr>
            <a:r>
              <a:t>Document-centric workspace (SOM)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4572000"/>
            <a:ext cx="10332720" cy="1828800"/>
          </a:xfrm>
          <a:prstGeom prst="rect">
            <a:avLst/>
          </a:prstGeom>
          <a:solidFill>
            <a:srgbClr val="142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754880"/>
            <a:ext cx="94183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400"/>
              </a:spcAft>
              <a:defRPr sz="1500" b="0">
                <a:solidFill>
                  <a:srgbClr val="FAFAF8"/>
                </a:solidFill>
                <a:latin typeface="Inter"/>
              </a:defRPr>
            </a:pPr>
            <a:r>
              <a:t>•  $570B in U.S. P&amp;C premiums alone</a:t>
            </a:r>
          </a:p>
          <a:p>
            <a:pPr algn="l">
              <a:spcAft>
                <a:spcPts val="2400"/>
              </a:spcAft>
              <a:defRPr sz="1500" b="0">
                <a:solidFill>
                  <a:srgbClr val="FAFAF8"/>
                </a:solidFill>
                <a:latin typeface="Inter"/>
              </a:defRPr>
            </a:pPr>
            <a:r>
              <a:t>•  88% of carriers want AI — only 7% have scaled it. The gap is the opportunity.</a:t>
            </a:r>
          </a:p>
          <a:p>
            <a:pPr algn="l">
              <a:spcAft>
                <a:spcPts val="2400"/>
              </a:spcAft>
              <a:defRPr sz="1500" b="0">
                <a:solidFill>
                  <a:srgbClr val="FAFAF8"/>
                </a:solidFill>
                <a:latin typeface="Inter"/>
              </a:defRPr>
            </a:pPr>
            <a:r>
              <a:t>•  Insurance AI market growing 30%+ CAGR through 2030</a:t>
            </a:r>
          </a:p>
          <a:p>
            <a:pPr algn="l">
              <a:spcAft>
                <a:spcPts val="2400"/>
              </a:spcAft>
              <a:defRPr sz="1500" b="0">
                <a:solidFill>
                  <a:srgbClr val="FAFAF8"/>
                </a:solidFill>
                <a:latin typeface="Inter"/>
              </a:defRPr>
            </a:pPr>
            <a:r>
              <a:t>•  Guidewire alone: $1.2B revenue, 19% ARR growth — proving carriers spend on claims technology</a:t>
            </a:r>
          </a:p>
          <a:p>
            <a:pPr algn="l">
              <a:spcAft>
                <a:spcPts val="2400"/>
              </a:spcAft>
              <a:defRPr sz="1500" b="0">
                <a:solidFill>
                  <a:srgbClr val="FAFAF8"/>
                </a:solidFill>
                <a:latin typeface="Inter"/>
              </a:defRPr>
            </a:pPr>
            <a:r>
              <a:t>•  Category-defining vertical AI companies: Legora ($5.55B), Veeva ($50B+), Procore ($12B+)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0D9488"/>
                </a:solidFill>
                <a:latin typeface="Inter"/>
              </a:defRPr>
            </a:pPr>
            <a:r>
              <a:t>BUSINESS MODEL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914400"/>
            <a:ext cx="1828800" cy="381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600" b="1">
                <a:solidFill>
                  <a:srgbClr val="1B2A4A"/>
                </a:solidFill>
                <a:latin typeface="Inter"/>
              </a:defRPr>
            </a:pPr>
            <a:r>
              <a:t>SaaS with built-in expansion.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103120"/>
            <a:ext cx="3108960" cy="2560320"/>
          </a:xfrm>
          <a:prstGeom prst="rect">
            <a:avLst/>
          </a:prstGeom>
          <a:solidFill>
            <a:srgbClr val="FFFFFF"/>
          </a:solidFill>
          <a:ln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2103120"/>
            <a:ext cx="3108960" cy="635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237744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000" b="1">
                <a:solidFill>
                  <a:srgbClr val="1B2A4A"/>
                </a:solidFill>
                <a:latin typeface="Inter"/>
              </a:defRPr>
            </a:pPr>
            <a:r>
              <a:t>Platform Fee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3017520"/>
            <a:ext cx="2651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1F2937"/>
                </a:solidFill>
                <a:latin typeface="Inter"/>
              </a:defRPr>
            </a:pPr>
            <a:r>
              <a:t>Annual subscription for workspace</a:t>
            </a:r>
            <a:br/>
            <a:r>
              <a:t>access, integrations, and</a:t>
            </a:r>
            <a:br/>
            <a:r>
              <a:t>compliance module.</a:t>
            </a:r>
            <a:br/>
            <a:br/>
            <a:r>
              <a:t>Ensures predictable ARR.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2103120"/>
            <a:ext cx="3108960" cy="2560320"/>
          </a:xfrm>
          <a:prstGeom prst="rect">
            <a:avLst/>
          </a:prstGeom>
          <a:solidFill>
            <a:srgbClr val="FFFFFF"/>
          </a:solidFill>
          <a:ln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2103120"/>
            <a:ext cx="3108960" cy="635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237744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000" b="1">
                <a:solidFill>
                  <a:srgbClr val="1B2A4A"/>
                </a:solidFill>
                <a:latin typeface="Inter"/>
              </a:defRPr>
            </a:pPr>
            <a:r>
              <a:t>Per-Claim Usage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3017520"/>
            <a:ext cx="2651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1F2937"/>
                </a:solidFill>
                <a:latin typeface="Inter"/>
              </a:defRPr>
            </a:pPr>
            <a:r>
              <a:t>Usage-based fee aligned with</a:t>
            </a:r>
            <a:br/>
            <a:r>
              <a:t>claims volume. Carriers already</a:t>
            </a:r>
            <a:br/>
            <a:r>
              <a:t>think in per-claim economics.</a:t>
            </a:r>
            <a:br/>
            <a:br/>
            <a:r>
              <a:t>Expansion revenue built in.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63840" y="2103120"/>
            <a:ext cx="3108960" cy="2560320"/>
          </a:xfrm>
          <a:prstGeom prst="rect">
            <a:avLst/>
          </a:prstGeom>
          <a:solidFill>
            <a:srgbClr val="FFFFFF"/>
          </a:solidFill>
          <a:ln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863840" y="2103120"/>
            <a:ext cx="3108960" cy="635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38160" y="237744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000" b="1">
                <a:solidFill>
                  <a:srgbClr val="1B2A4A"/>
                </a:solidFill>
                <a:latin typeface="Inter"/>
              </a:defRPr>
            </a:pPr>
            <a:r>
              <a:t>Playbook Setup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0" y="3017520"/>
            <a:ext cx="2651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1F2937"/>
                </a:solidFill>
                <a:latin typeface="Inter"/>
              </a:defRPr>
            </a:pPr>
            <a:r>
              <a:t>One-time professional services</a:t>
            </a:r>
            <a:br/>
            <a:r>
              <a:t>for carrier-specific rule encoding.</a:t>
            </a:r>
            <a:br/>
            <a:br/>
            <a:r>
              <a:t>Creates switching-cost moat</a:t>
            </a:r>
            <a:br/>
            <a:r>
              <a:t>from institutional knowledge.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5029200"/>
            <a:ext cx="10332720" cy="15544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71600" y="512064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400"/>
              </a:spcAft>
              <a:defRPr sz="1500" b="0">
                <a:solidFill>
                  <a:srgbClr val="FFFFFF"/>
                </a:solidFill>
                <a:latin typeface="Inter"/>
              </a:defRPr>
            </a:pPr>
            <a:r>
              <a:t>Illustrative ACV by carrier size:</a:t>
            </a:r>
          </a:p>
          <a:p>
            <a:pPr algn="l">
              <a:spcAft>
                <a:spcPts val="2400"/>
              </a:spcAft>
              <a:defRPr sz="1500" b="0">
                <a:solidFill>
                  <a:srgbClr val="FFFFFF"/>
                </a:solidFill>
                <a:latin typeface="Inter"/>
              </a:defRPr>
            </a:pPr>
          </a:p>
          <a:p>
            <a:pPr algn="l">
              <a:spcAft>
                <a:spcPts val="2400"/>
              </a:spcAft>
              <a:defRPr sz="1500" b="0">
                <a:solidFill>
                  <a:srgbClr val="FFFFFF"/>
                </a:solidFill>
                <a:latin typeface="Inter"/>
              </a:defRPr>
            </a:pPr>
            <a:r>
              <a:t>Mid-market ($1–5B GWP):  $500K–$1M    |    Large ($5–20B GWP):  $1M–$3M    |    Top 20 ($20B+ GWP):  $3M–$10M</a:t>
            </a:r>
          </a:p>
          <a:p>
            <a:pPr algn="l">
              <a:spcAft>
                <a:spcPts val="2400"/>
              </a:spcAft>
              <a:defRPr sz="1500" b="0">
                <a:solidFill>
                  <a:srgbClr val="FFFFFF"/>
                </a:solidFill>
                <a:latin typeface="Inter"/>
              </a:defRPr>
            </a:pPr>
          </a:p>
          <a:p>
            <a:pPr algn="l">
              <a:spcAft>
                <a:spcPts val="2400"/>
              </a:spcAft>
              <a:defRPr sz="1500" b="0">
                <a:solidFill>
                  <a:srgbClr val="FFFFFF"/>
                </a:solidFill>
                <a:latin typeface="Inter"/>
              </a:defRPr>
            </a:pPr>
            <a:r>
              <a:t>Land with a single claims line → expand across the carrier.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0D9488"/>
                </a:solidFill>
                <a:latin typeface="Inter"/>
              </a:defRPr>
            </a:pPr>
            <a:r>
              <a:t>GO-TO-MARKET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914400"/>
            <a:ext cx="1828800" cy="381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600" b="1">
                <a:solidFill>
                  <a:srgbClr val="1B2A4A"/>
                </a:solidFill>
                <a:latin typeface="Inter"/>
              </a:defRPr>
            </a:pPr>
            <a:r>
              <a:t>Pilot-first. Prove it, then scale it.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103120"/>
            <a:ext cx="2651760" cy="3657600"/>
          </a:xfrm>
          <a:prstGeom prst="rect">
            <a:avLst/>
          </a:prstGeom>
          <a:solidFill>
            <a:srgbClr val="FFFFFF"/>
          </a:solidFill>
          <a:ln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2103120"/>
            <a:ext cx="2651760" cy="635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0D9488"/>
                </a:solidFill>
                <a:latin typeface="Inter"/>
              </a:defRPr>
            </a:pPr>
            <a:r>
              <a:t>Months 1–4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7432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1B2A4A"/>
                </a:solidFill>
                <a:latin typeface="Inter"/>
              </a:defRPr>
            </a:pPr>
            <a:r>
              <a:t>DESIGN PARTNERS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383280"/>
            <a:ext cx="22860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F2937"/>
                </a:solidFill>
                <a:latin typeface="Inter"/>
              </a:defRPr>
            </a:pPr>
            <a:r>
              <a:t>5 qualified conversations</a:t>
            </a:r>
            <a:br/>
            <a:r>
              <a:t>3 pilots launched</a:t>
            </a:r>
            <a:br/>
            <a:r>
              <a:t>Guide wire integration</a:t>
            </a:r>
            <a:br/>
            <a:r>
              <a:t>Analyst briefing (Celent)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74720" y="2103120"/>
            <a:ext cx="2651760" cy="3657600"/>
          </a:xfrm>
          <a:prstGeom prst="rect">
            <a:avLst/>
          </a:prstGeom>
          <a:solidFill>
            <a:srgbClr val="FFFFFF"/>
          </a:solidFill>
          <a:ln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74720" y="2103120"/>
            <a:ext cx="2651760" cy="635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0" y="22860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0D9488"/>
                </a:solidFill>
                <a:latin typeface="Inter"/>
              </a:defRPr>
            </a:pPr>
            <a:r>
              <a:t>Months 4–8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27432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1B2A4A"/>
                </a:solidFill>
                <a:latin typeface="Inter"/>
              </a:defRPr>
            </a:pPr>
            <a:r>
              <a:t>PROOF OF VALUE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3383280"/>
            <a:ext cx="22860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F2937"/>
                </a:solidFill>
                <a:latin typeface="Inter"/>
              </a:defRPr>
            </a:pPr>
            <a:r>
              <a:t>60–90 day measurable pilots</a:t>
            </a:r>
            <a:br/>
            <a:r>
              <a:t>First case studies</a:t>
            </a:r>
            <a:br/>
            <a:r>
              <a:t>Content + thought leadership</a:t>
            </a:r>
            <a:br/>
            <a:r>
              <a:t>Conference pipeline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2103120"/>
            <a:ext cx="2651760" cy="3657600"/>
          </a:xfrm>
          <a:prstGeom prst="rect">
            <a:avLst/>
          </a:prstGeom>
          <a:solidFill>
            <a:srgbClr val="FFFFFF"/>
          </a:solidFill>
          <a:ln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0" y="2103120"/>
            <a:ext cx="2651760" cy="635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22860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0D9488"/>
                </a:solidFill>
                <a:latin typeface="Inter"/>
              </a:defRPr>
            </a:pPr>
            <a:r>
              <a:t>Months 8–12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27432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1B2A4A"/>
                </a:solidFill>
                <a:latin typeface="Inter"/>
              </a:defRPr>
            </a:pPr>
            <a:r>
              <a:t>ENTERPRISE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3383280"/>
            <a:ext cx="22860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F2937"/>
                </a:solidFill>
                <a:latin typeface="Inter"/>
              </a:defRPr>
            </a:pPr>
            <a:r>
              <a:t>2–3 enterprise contracts</a:t>
            </a:r>
            <a:br/>
            <a:r>
              <a:t>VP Sales hired</a:t>
            </a:r>
            <a:br/>
            <a:r>
              <a:t>Guidewire Marketplace</a:t>
            </a:r>
            <a:br/>
            <a:r>
              <a:t>Channel partner conversations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326880" y="2103120"/>
            <a:ext cx="2651760" cy="3657600"/>
          </a:xfrm>
          <a:prstGeom prst="rect">
            <a:avLst/>
          </a:prstGeom>
          <a:solidFill>
            <a:srgbClr val="FFFFFF"/>
          </a:solidFill>
          <a:ln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326880" y="2103120"/>
            <a:ext cx="2651760" cy="635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509760" y="22860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0D9488"/>
                </a:solidFill>
                <a:latin typeface="Inter"/>
              </a:defRPr>
            </a:pPr>
            <a:r>
              <a:t>Year 2+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09760" y="27432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1B2A4A"/>
                </a:solidFill>
                <a:latin typeface="Inter"/>
              </a:defRPr>
            </a:pPr>
            <a:r>
              <a:t>SCALE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09760" y="3383280"/>
            <a:ext cx="22860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F2937"/>
                </a:solidFill>
                <a:latin typeface="Inter"/>
              </a:defRPr>
            </a:pPr>
            <a:r>
              <a:t>Repeatable sales motion</a:t>
            </a:r>
            <a:br/>
            <a:r>
              <a:t>Multi-line expansion</a:t>
            </a:r>
            <a:br/>
            <a:r>
              <a:t>International</a:t>
            </a:r>
            <a:br/>
            <a:r>
              <a:t>$10M+ ARR target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60350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400" b="0">
                <a:solidFill>
                  <a:srgbClr val="64748B"/>
                </a:solidFill>
                <a:latin typeface="Inter"/>
              </a:defRPr>
            </a:pPr>
            <a:r>
              <a:t>Target: mid-market and large P&amp;C carriers  |  Guidewire/Duck Creek ecosystem  |  Founder-led sales in Year 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0D9488"/>
                </a:solidFill>
                <a:latin typeface="Inter"/>
              </a:defRPr>
            </a:pPr>
            <a:r>
              <a:t>THE TEAM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914400"/>
            <a:ext cx="1828800" cy="381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600" b="1">
                <a:solidFill>
                  <a:srgbClr val="1B2A4A"/>
                </a:solidFill>
                <a:latin typeface="Inter"/>
              </a:defRPr>
            </a:pPr>
            <a:r>
              <a:t>Insurance expertise meets AI expertise.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286000"/>
            <a:ext cx="3108960" cy="3200400"/>
          </a:xfrm>
          <a:prstGeom prst="rect">
            <a:avLst/>
          </a:prstGeom>
          <a:solidFill>
            <a:srgbClr val="FFFFFF"/>
          </a:solidFill>
          <a:ln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2286000"/>
            <a:ext cx="3108960" cy="635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256032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0D9488"/>
                </a:solidFill>
                <a:latin typeface="Inter"/>
              </a:defRPr>
            </a:pPr>
            <a:r>
              <a:t>Founder &amp; CEO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301752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200" b="1">
                <a:solidFill>
                  <a:srgbClr val="1B2A4A"/>
                </a:solidFill>
                <a:latin typeface="Inter"/>
              </a:defRPr>
            </a:pPr>
            <a:r>
              <a:t>[Name]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657600"/>
            <a:ext cx="2651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1F2937"/>
                </a:solidFill>
                <a:latin typeface="Inter"/>
              </a:defRPr>
            </a:pPr>
            <a:r>
              <a:t>Insurance industry + technology</a:t>
            </a:r>
            <a:br/>
            <a:r>
              <a:t>background. Deep understanding of</a:t>
            </a:r>
            <a:br/>
            <a:r>
              <a:t>claims operations and the</a:t>
            </a:r>
            <a:br/>
            <a:r>
              <a:t>document processing pain.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120" y="2286000"/>
            <a:ext cx="3108960" cy="3200400"/>
          </a:xfrm>
          <a:prstGeom prst="rect">
            <a:avLst/>
          </a:prstGeom>
          <a:solidFill>
            <a:srgbClr val="FFFFFF"/>
          </a:solidFill>
          <a:ln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2286000"/>
            <a:ext cx="3108960" cy="635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256032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0D9488"/>
                </a:solidFill>
                <a:latin typeface="Inter"/>
              </a:defRPr>
            </a:pPr>
            <a:r>
              <a:t>Co-Founder &amp; CTO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301752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200" b="1">
                <a:solidFill>
                  <a:srgbClr val="1B2A4A"/>
                </a:solidFill>
                <a:latin typeface="Inter"/>
              </a:defRPr>
            </a:pPr>
            <a:r>
              <a:t>[Name]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3657600"/>
            <a:ext cx="2651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1F2937"/>
                </a:solidFill>
                <a:latin typeface="Inter"/>
              </a:defRPr>
            </a:pPr>
            <a:r>
              <a:t>AI/ML engineering expertise.</a:t>
            </a:r>
            <a:br/>
            <a:r>
              <a:t>Document intelligence and NLP.</a:t>
            </a:r>
            <a:br/>
            <a:r>
              <a:t>Scalable system architecture.</a:t>
            </a:r>
            <a:br/>
            <a:r>
              <a:t>Enterprise-grade infrastructure.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863840" y="2286000"/>
            <a:ext cx="3108960" cy="3200400"/>
          </a:xfrm>
          <a:prstGeom prst="rect">
            <a:avLst/>
          </a:prstGeom>
          <a:solidFill>
            <a:srgbClr val="FFFFFF"/>
          </a:solidFill>
          <a:ln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863840" y="2286000"/>
            <a:ext cx="3108960" cy="635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38160" y="256032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0D9488"/>
                </a:solidFill>
                <a:latin typeface="Inter"/>
              </a:defRPr>
            </a:pPr>
            <a:r>
              <a:t>Advisors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301752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200" b="1">
                <a:solidFill>
                  <a:srgbClr val="1B2A4A"/>
                </a:solidFill>
                <a:latin typeface="Inter"/>
              </a:defRPr>
            </a:pPr>
            <a:r>
              <a:t>[Names]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38160" y="3657600"/>
            <a:ext cx="2651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1F2937"/>
                </a:solidFill>
                <a:latin typeface="Inter"/>
              </a:defRPr>
            </a:pPr>
            <a:r>
              <a:t>Insurance executives, AI researchers,</a:t>
            </a:r>
            <a:br/>
            <a:r>
              <a:t>enterprise SaaS operators.</a:t>
            </a:r>
            <a:br/>
            <a:r>
              <a:t>Domain credibility and</a:t>
            </a:r>
            <a:br/>
            <a:r>
              <a:t>network access.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" y="5760720"/>
            <a:ext cx="10332720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71600" y="5852160"/>
            <a:ext cx="9418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500" b="0">
                <a:solidFill>
                  <a:srgbClr val="FFFFFF"/>
                </a:solidFill>
                <a:latin typeface="Inter"/>
              </a:defRPr>
            </a:pPr>
            <a:r>
              <a:t>Why this team wins: the intersection of deep insurance domain knowledge and production-grade AI engineering. We’ve lived the claims document problem and built the technology to solve it.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0D9488"/>
                </a:solidFill>
                <a:latin typeface="Inter"/>
              </a:defRPr>
            </a:pPr>
            <a:r>
              <a:t>THE ASK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914400"/>
            <a:ext cx="1828800" cy="381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4400" b="1">
                <a:solidFill>
                  <a:srgbClr val="FFFFFF"/>
                </a:solidFill>
                <a:latin typeface="Inter"/>
              </a:defRPr>
            </a:pPr>
            <a:r>
              <a:t>Seed round: $[X]M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468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200" b="1">
                <a:solidFill>
                  <a:srgbClr val="0D9488"/>
                </a:solidFill>
                <a:latin typeface="Inter"/>
              </a:defRPr>
            </a:pPr>
            <a:r>
              <a:t>What it funds:</a:t>
            </a:r>
          </a:p>
        </p:txBody>
      </p:sp>
      <p:sp>
        <p:nvSpPr>
          <p:cNvPr id="6" name="Rectangle 5"/>
          <p:cNvSpPr/>
          <p:nvPr/>
        </p:nvSpPr>
        <p:spPr>
          <a:xfrm>
            <a:off x="1097280" y="3017520"/>
            <a:ext cx="137160" cy="5486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63040" y="30175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FFFFFF"/>
                </a:solidFill>
                <a:latin typeface="Inter"/>
              </a:defRPr>
            </a:pPr>
            <a:r>
              <a:t>Engineering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301752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500" b="0">
                <a:solidFill>
                  <a:srgbClr val="FAFAF8"/>
                </a:solidFill>
                <a:latin typeface="Inter"/>
              </a:defRPr>
            </a:pPr>
            <a:r>
              <a:t>Build the document intelligence engine</a:t>
            </a:r>
            <a:br/>
            <a:r>
              <a:t>and workspace product to production-readiness.</a:t>
            </a:r>
          </a:p>
        </p:txBody>
      </p:sp>
      <p:sp>
        <p:nvSpPr>
          <p:cNvPr id="9" name="Rectangle 8"/>
          <p:cNvSpPr/>
          <p:nvPr/>
        </p:nvSpPr>
        <p:spPr>
          <a:xfrm>
            <a:off x="1097280" y="3931920"/>
            <a:ext cx="137160" cy="5486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63040" y="39319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FFFFFF"/>
                </a:solidFill>
                <a:latin typeface="Inter"/>
              </a:defRPr>
            </a:pPr>
            <a:r>
              <a:t>Design Partners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393192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500" b="0">
                <a:solidFill>
                  <a:srgbClr val="FAFAF8"/>
                </a:solidFill>
                <a:latin typeface="Inter"/>
              </a:defRPr>
            </a:pPr>
            <a:r>
              <a:t>Fund 3–5 carrier pilots, Guidewire integration,</a:t>
            </a:r>
            <a:br/>
            <a:r>
              <a:t>and first enterprise deployments.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97280" y="4846320"/>
            <a:ext cx="137160" cy="5486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63040" y="4846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FFFFFF"/>
                </a:solidFill>
                <a:latin typeface="Inter"/>
              </a:defRPr>
            </a:pPr>
            <a:r>
              <a:t>Go-to-Market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484632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500" b="0">
                <a:solidFill>
                  <a:srgbClr val="FAFAF8"/>
                </a:solidFill>
                <a:latin typeface="Inter"/>
              </a:defRPr>
            </a:pPr>
            <a:r>
              <a:t>Hire founding sales + marketing.</a:t>
            </a:r>
            <a:br/>
            <a:r>
              <a:t>Conference presence. Analyst engagement.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97280" y="5760720"/>
            <a:ext cx="137160" cy="5486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63040" y="57607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FFFFFF"/>
                </a:solidFill>
                <a:latin typeface="Inter"/>
              </a:defRPr>
            </a:pPr>
            <a:r>
              <a:t>18-Month Runway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576072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500" b="0">
                <a:solidFill>
                  <a:srgbClr val="FAFAF8"/>
                </a:solidFill>
                <a:latin typeface="Inter"/>
              </a:defRPr>
            </a:pPr>
            <a:r>
              <a:t>Capital-efficient path to $1–3M ARR</a:t>
            </a:r>
            <a:br/>
            <a:r>
              <a:t>and Series A readiness.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0" y="2011680"/>
            <a:ext cx="1371600" cy="508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2860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5400" b="1">
                <a:solidFill>
                  <a:srgbClr val="FFFFFF"/>
                </a:solidFill>
                <a:latin typeface="Inter"/>
              </a:defRPr>
            </a:pPr>
            <a:r>
              <a:t>CHARTERWELL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3832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800" b="0">
                <a:solidFill>
                  <a:srgbClr val="0D9488"/>
                </a:solidFill>
                <a:latin typeface="Inter"/>
              </a:defRPr>
            </a:pPr>
            <a:r>
              <a:t>Every document understood.</a:t>
            </a:r>
            <a:br/>
            <a:r>
              <a:t>Every decision informed.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7548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800" b="0">
                <a:solidFill>
                  <a:srgbClr val="FAFAF8"/>
                </a:solidFill>
                <a:latin typeface="Inter"/>
              </a:defRPr>
            </a:pPr>
            <a:r>
              <a:t>The AI-Native Claims Intelligence Workspace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5394960"/>
            <a:ext cx="3657600" cy="3657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557784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600" b="0">
                <a:solidFill>
                  <a:srgbClr val="FAFAF8"/>
                </a:solidFill>
                <a:latin typeface="Inter"/>
              </a:defRPr>
            </a:pPr>
            <a:r>
              <a:t>[Founder Name]  |  [email]  |  charterwell.ai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64465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1B2A4A"/>
                </a:solidFill>
                <a:latin typeface="Inter"/>
              </a:defRPr>
            </a:pPr>
            <a:r>
              <a:t>Confidential  |  March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